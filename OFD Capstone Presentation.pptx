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4938ab9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4938ab9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2f6137f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42f6137f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d469e0e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d469e0e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d469e0eb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d469e0eb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4938ab94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4938ab94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4a25791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4a25791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4a257913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4a257913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a257913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4a257913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4a257913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4a257913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4a257913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4a257913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d5c8c8e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d5c8c8e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d5c8c8e3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d5c8c8e3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d5c8c8e3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d5c8c8e3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d5c8c8e3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d5c8c8e3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d5c8c8e3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d5c8c8e3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d5c8c8e3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d5c8c8e3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d5c8c8e3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d5c8c8e3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4c39ca00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4c39ca00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d5c8c8e3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d5c8c8e3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d5c8c8e36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d5c8c8e36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d5c8c8e36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d5c8c8e36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d5c8c8e36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d5c8c8e36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d469e0eb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dd469e0eb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4938ab94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4938ab94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4938ab94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4938ab94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679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41230"/>
              </a:buClr>
              <a:buSzPts val="1655"/>
              <a:buChar char="○"/>
            </a:pPr>
            <a:r>
              <a:rPr lang="en" sz="1655">
                <a:solidFill>
                  <a:schemeClr val="dk1"/>
                </a:solidFill>
              </a:rPr>
              <a:t>3 datasets: </a:t>
            </a:r>
            <a:r>
              <a:rPr lang="en" sz="1655">
                <a:solidFill>
                  <a:schemeClr val="dk1"/>
                </a:solidFill>
              </a:rPr>
              <a:t>Fire incident dataset, EMS incident dataset, EMS “Last Unit Cleared” Dataset</a:t>
            </a:r>
            <a:endParaRPr sz="165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4938ab94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4938ab94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4938ab94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4938ab94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4938ab94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4938ab94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4938ab94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4938ab94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d5c8c8e3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d5c8c8e3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d5c8c8e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d5c8c8e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f984f600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f984f600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d5c8c8e3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d5c8c8e3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ed" type="title">
  <p:cSld name="TITLE">
    <p:bg>
      <p:bgPr>
        <a:solidFill>
          <a:srgbClr val="C4123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8325" y="280250"/>
            <a:ext cx="2270744" cy="192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525350" y="2517875"/>
            <a:ext cx="7956900" cy="17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25350" y="1996775"/>
            <a:ext cx="8244900" cy="5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Imag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25" y="280250"/>
            <a:ext cx="2270744" cy="192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ctrTitle"/>
          </p:nvPr>
        </p:nvSpPr>
        <p:spPr>
          <a:xfrm>
            <a:off x="525350" y="2517875"/>
            <a:ext cx="7956900" cy="17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25350" y="1996775"/>
            <a:ext cx="8244900" cy="5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- Red" type="secHead">
  <p:cSld name="SECTION_HEADER">
    <p:bg>
      <p:bgPr>
        <a:solidFill>
          <a:srgbClr val="C41230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525350" y="931937"/>
            <a:ext cx="7956900" cy="18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525350" y="2764327"/>
            <a:ext cx="82449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-25" y="-8400"/>
            <a:ext cx="236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 rot="5400000">
            <a:off x="4454525" y="452250"/>
            <a:ext cx="236700" cy="914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45687" y="3548550"/>
            <a:ext cx="1599474" cy="135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- Tan">
  <p:cSld name="SECTION_HEADER_1">
    <p:bg>
      <p:bgPr>
        <a:solidFill>
          <a:srgbClr val="EDECE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525350" y="931937"/>
            <a:ext cx="7956900" cy="18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525350" y="2664112"/>
            <a:ext cx="8244900" cy="5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22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-25" y="-8400"/>
            <a:ext cx="236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 rot="5400000">
            <a:off x="4454525" y="452250"/>
            <a:ext cx="236700" cy="914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45687" y="3548550"/>
            <a:ext cx="1599474" cy="135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ed 1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Tan 1">
  <p:cSld name="TITLE_AND_BOD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>
            <p:ph idx="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ed 2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Tan 2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Red 1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157842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49" name="Google Shape;49;p10"/>
          <p:cNvSpPr txBox="1"/>
          <p:nvPr>
            <p:ph idx="2" type="body"/>
          </p:nvPr>
        </p:nvSpPr>
        <p:spPr>
          <a:xfrm>
            <a:off x="4832400" y="157842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50" name="Google Shape;50;p10"/>
          <p:cNvSpPr txBox="1"/>
          <p:nvPr>
            <p:ph idx="3" type="title"/>
          </p:nvPr>
        </p:nvSpPr>
        <p:spPr>
          <a:xfrm>
            <a:off x="355525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4" type="title"/>
          </p:nvPr>
        </p:nvSpPr>
        <p:spPr>
          <a:xfrm>
            <a:off x="4832400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Tan 1">
  <p:cSld name="TITLE_AND_TWO_COLUMNS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157842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832400" y="157842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58" name="Google Shape;58;p11"/>
          <p:cNvSpPr txBox="1"/>
          <p:nvPr>
            <p:ph idx="3" type="title"/>
          </p:nvPr>
        </p:nvSpPr>
        <p:spPr>
          <a:xfrm>
            <a:off x="355525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4" type="title"/>
          </p:nvPr>
        </p:nvSpPr>
        <p:spPr>
          <a:xfrm>
            <a:off x="4832400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Red 2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311700" y="1578425"/>
            <a:ext cx="39999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64" name="Google Shape;64;p12"/>
          <p:cNvSpPr txBox="1"/>
          <p:nvPr>
            <p:ph idx="2" type="body"/>
          </p:nvPr>
        </p:nvSpPr>
        <p:spPr>
          <a:xfrm>
            <a:off x="4832400" y="1578425"/>
            <a:ext cx="39999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65" name="Google Shape;65;p12"/>
          <p:cNvSpPr txBox="1"/>
          <p:nvPr>
            <p:ph idx="3" type="title"/>
          </p:nvPr>
        </p:nvSpPr>
        <p:spPr>
          <a:xfrm>
            <a:off x="355525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4" type="title"/>
          </p:nvPr>
        </p:nvSpPr>
        <p:spPr>
          <a:xfrm>
            <a:off x="4832400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Tan 1">
  <p:cSld name="TITLE_AND_TWO_COLUMNS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311700" y="1578425"/>
            <a:ext cx="39999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71" name="Google Shape;71;p13"/>
          <p:cNvSpPr txBox="1"/>
          <p:nvPr>
            <p:ph idx="2" type="body"/>
          </p:nvPr>
        </p:nvSpPr>
        <p:spPr>
          <a:xfrm>
            <a:off x="4832400" y="1578425"/>
            <a:ext cx="39999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72" name="Google Shape;72;p13"/>
          <p:cNvSpPr txBox="1"/>
          <p:nvPr>
            <p:ph idx="3" type="title"/>
          </p:nvPr>
        </p:nvSpPr>
        <p:spPr>
          <a:xfrm>
            <a:off x="355525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4" type="title"/>
          </p:nvPr>
        </p:nvSpPr>
        <p:spPr>
          <a:xfrm>
            <a:off x="4832400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Red 1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Tan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Red 2">
  <p:cSld name="TITLE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Tan 2">
  <p:cSld name="TITLE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ype 1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265500" y="1996850"/>
            <a:ext cx="37128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4926800" y="641200"/>
            <a:ext cx="39057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ype 2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ED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265500" y="1996850"/>
            <a:ext cx="37128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4926800" y="641200"/>
            <a:ext cx="39057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19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000000"/>
                </a:solidFill>
              </a:defRPr>
            </a:lvl1pPr>
            <a:lvl2pPr lvl="1" rtl="0">
              <a:buNone/>
              <a:defRPr>
                <a:solidFill>
                  <a:srgbClr val="000000"/>
                </a:solidFill>
              </a:defRPr>
            </a:lvl2pPr>
            <a:lvl3pPr lvl="2" rtl="0">
              <a:buNone/>
              <a:defRPr>
                <a:solidFill>
                  <a:srgbClr val="000000"/>
                </a:solidFill>
              </a:defRPr>
            </a:lvl3pPr>
            <a:lvl4pPr lvl="3" rtl="0">
              <a:buNone/>
              <a:defRPr>
                <a:solidFill>
                  <a:srgbClr val="000000"/>
                </a:solidFill>
              </a:defRPr>
            </a:lvl4pPr>
            <a:lvl5pPr lvl="4" rtl="0">
              <a:buNone/>
              <a:defRPr>
                <a:solidFill>
                  <a:srgbClr val="000000"/>
                </a:solidFill>
              </a:defRPr>
            </a:lvl5pPr>
            <a:lvl6pPr lvl="5" rtl="0">
              <a:buNone/>
              <a:defRPr>
                <a:solidFill>
                  <a:srgbClr val="000000"/>
                </a:solidFill>
              </a:defRPr>
            </a:lvl6pPr>
            <a:lvl7pPr lvl="6" rtl="0">
              <a:buNone/>
              <a:defRPr>
                <a:solidFill>
                  <a:srgbClr val="000000"/>
                </a:solidFill>
              </a:defRPr>
            </a:lvl7pPr>
            <a:lvl8pPr lvl="7" rtl="0">
              <a:buNone/>
              <a:defRPr>
                <a:solidFill>
                  <a:srgbClr val="000000"/>
                </a:solidFill>
              </a:defRPr>
            </a:lvl8pPr>
            <a:lvl9pPr lvl="8" rtl="0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490250" y="723398"/>
            <a:ext cx="6367800" cy="315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90250" y="3939423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APTION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public.tableau.com/views/FINALOxfordFireDepartmentDashboard/IncidentMapbyType?:language=en-US&amp;:sid=&amp;:redirect=auth&amp;:display_count=n&amp;:origin=viz_share_link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976800" y="1750425"/>
            <a:ext cx="7190400" cy="22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0" lang="en" sz="4756"/>
              <a:t>Analyzing Fire and EMS Incidents for Oxford Fire Department</a:t>
            </a:r>
            <a:endParaRPr/>
          </a:p>
        </p:txBody>
      </p:sp>
      <p:sp>
        <p:nvSpPr>
          <p:cNvPr id="109" name="Google Shape;109;p22"/>
          <p:cNvSpPr txBox="1"/>
          <p:nvPr>
            <p:ph idx="1" type="subTitle"/>
          </p:nvPr>
        </p:nvSpPr>
        <p:spPr>
          <a:xfrm>
            <a:off x="1714950" y="4001625"/>
            <a:ext cx="5714100" cy="7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/>
              <a:t>RJ Worrall, Lily Douthat, Anton Martinez, Mirza Baig</a:t>
            </a:r>
            <a:endParaRPr sz="1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/>
              <a:t>4/7/2026</a:t>
            </a:r>
            <a:endParaRPr sz="1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/>
              <a:t>Miami University</a:t>
            </a:r>
            <a:endParaRPr sz="1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/>
              <a:t>STA 475 Senior Capstone Project</a:t>
            </a:r>
            <a:endParaRPr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Understand the nature of the data.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Discover trends/causes of overlapping calls within the Oxford Fire Department EMS and Fire call data.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Analyze the different maps of the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How can the Oxford Fire Department improve staffing and resource allocation?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How often do overlapping calls occur?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/>
              <a:t>What qualities do overlapping calls tend to have?</a:t>
            </a:r>
            <a:endParaRPr sz="18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Map out results using interactive visualizations and maps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Data Preprocessing 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Performed in Python; Pandas and NumPy libraries.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Read and combined EMS and Fire datasets.</a:t>
            </a:r>
            <a:endParaRPr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Columns that initially didn’t merge were put together for cleaner analysis.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Aggregation of the initially missing cleared times for EMS calls.</a:t>
            </a:r>
            <a:endParaRPr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Necessary to determine overlapping calls.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Data Preprocessing 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New column for overlapping data: shows the id of the previous call it overlaps.</a:t>
            </a:r>
            <a:endParaRPr sz="21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If two or more calls overlap the same one, they all hold the key of the first.</a:t>
            </a:r>
            <a:endParaRPr sz="19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Overlap: when a call happened in the window between a previous call being received and 30 minutes after it was cleared.</a:t>
            </a:r>
            <a:endParaRPr sz="2100"/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3660663"/>
            <a:ext cx="502920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Data Manipulation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Converted dispatch, arrival, and cleared times to datetime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Extracted longitude from location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Filtered invalid ages (0 or &gt;110)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(EDA)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Questions to answer: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are the general characteristics of emergency and fire calls? In terms of age, incident type, location category (on campus, Oxford city, etc.)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times of day, time of week, time of year, shift has the highest risk of fire/emergency?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often do false alarms occur? What trends can we find in this subset of data?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much variation is there in response times?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General Characteristics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 Distribution Analysis</a:t>
            </a:r>
            <a:endParaRPr/>
          </a:p>
        </p:txBody>
      </p:sp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250" y="1898025"/>
            <a:ext cx="4543674" cy="324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8200" y="2020725"/>
            <a:ext cx="4723450" cy="274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General Characteristics Cont.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District Analysis</a:t>
            </a:r>
            <a:endParaRPr/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14063"/>
            <a:ext cx="4572000" cy="2654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8" y="2084601"/>
            <a:ext cx="4563302" cy="26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General Characteristics Cont.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Analysis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44200"/>
            <a:ext cx="4571999" cy="3265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991225"/>
            <a:ext cx="4413175" cy="31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General Characteristics Cont.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Type Analysis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62300"/>
            <a:ext cx="4775550" cy="278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675" y="2040875"/>
            <a:ext cx="4401674" cy="25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Deep Dive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False Alarms Analysis</a:t>
            </a:r>
            <a:endParaRPr/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921301"/>
            <a:ext cx="4422650" cy="257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2648" y="2002600"/>
            <a:ext cx="4644777" cy="277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Deep Dive Cont.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Call Volume by District and Time</a:t>
            </a:r>
            <a:endParaRPr/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2065224"/>
            <a:ext cx="4486051" cy="2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7950" y="2065227"/>
            <a:ext cx="4486050" cy="264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/>
              <a:t>EDA: Deep Dive Cont.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Response Times by Time of Day and Call Type</a:t>
            </a:r>
            <a:endParaRPr/>
          </a:p>
        </p:txBody>
      </p:sp>
      <p:pic>
        <p:nvPicPr>
          <p:cNvPr id="201" name="Google Shape;2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7500"/>
            <a:ext cx="4683500" cy="26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500" y="1875799"/>
            <a:ext cx="4683501" cy="270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Deep Dive Cont.</a:t>
            </a:r>
            <a:endParaRPr/>
          </a:p>
        </p:txBody>
      </p:sp>
      <p:sp>
        <p:nvSpPr>
          <p:cNvPr id="208" name="Google Shape;20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 Time by Fire Call (5 most common)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Left to Right:</a:t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Smoke detector malfunction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Alarm malfunction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 detector malfunction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Accidental smoke detector 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activation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Accidental alarm activation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825" y="1681175"/>
            <a:ext cx="5406175" cy="31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Deep Dive Cont.</a:t>
            </a:r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 Time by EMS Call (5 most common)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Left to Right:</a:t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treatment required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Patient refused care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Patient treated, released (AMA)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Patient treated, released (protocol)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Patient treated, transported by unit</a:t>
            </a:r>
            <a:endParaRPr sz="1500"/>
          </a:p>
        </p:txBody>
      </p:sp>
      <p:pic>
        <p:nvPicPr>
          <p:cNvPr id="216" name="Google Shape;2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745" y="1733007"/>
            <a:ext cx="4902250" cy="283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Deep Dive Cont.</a:t>
            </a:r>
            <a:endParaRPr/>
          </a:p>
        </p:txBody>
      </p:sp>
      <p:sp>
        <p:nvSpPr>
          <p:cNvPr id="222" name="Google Shape;22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EMS Response Times by Patient Complaint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Left to Right:</a:t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Breathing problem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Falls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Sick person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Traffic incident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 Unconscious/fainting</a:t>
            </a:r>
            <a:endParaRPr sz="1500"/>
          </a:p>
        </p:txBody>
      </p:sp>
      <p:pic>
        <p:nvPicPr>
          <p:cNvPr id="223" name="Google Shape;22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300" y="1768575"/>
            <a:ext cx="5567700" cy="318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EDA: Major Takeaways</a:t>
            </a:r>
            <a:endParaRPr/>
          </a:p>
        </p:txBody>
      </p:sp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City of Oxford and Miami University are the most common incident locations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Calls are most common during evening/nighttime, weekends, and early fall months (Sept, Oct)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EMS calls have longer response times on average compared to fire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Among common EMS call complaints/illnesses, response times are pretty consistent around ~45 minutes.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Overlapping Calls</a:t>
            </a:r>
            <a:endParaRPr/>
          </a:p>
        </p:txBody>
      </p:sp>
      <p:sp>
        <p:nvSpPr>
          <p:cNvPr id="235" name="Google Shape;23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Calls considered active from dispatch until last unit cleared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Added 30-minute buffer for report writing, restocking, and returning to service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call is considered overlapping if another call occurs during this window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Often Do Overlapping Calls Occur?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Total calls: 5317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Overlapping calls: 2123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Overlap rate: 39.93 %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/>
              <a:t>When Do Overlapping Calls Happen Most Often?</a:t>
            </a:r>
            <a:endParaRPr sz="27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80"/>
          </a:p>
        </p:txBody>
      </p:sp>
      <p:sp>
        <p:nvSpPr>
          <p:cNvPr id="247" name="Google Shape;247;p42"/>
          <p:cNvSpPr txBox="1"/>
          <p:nvPr>
            <p:ph idx="1" type="body"/>
          </p:nvPr>
        </p:nvSpPr>
        <p:spPr>
          <a:xfrm>
            <a:off x="311700" y="1315074"/>
            <a:ext cx="2571300" cy="3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Highest overlap early morning and evening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Lowest overlap around early morning hours (4-6 AM)</a:t>
            </a:r>
            <a:endParaRPr/>
          </a:p>
        </p:txBody>
      </p:sp>
      <p:pic>
        <p:nvPicPr>
          <p:cNvPr id="248" name="Google Shape;2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3025" y="1315063"/>
            <a:ext cx="5949275" cy="29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Overlapping Calls by District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3"/>
          <p:cNvSpPr txBox="1"/>
          <p:nvPr>
            <p:ph idx="1" type="body"/>
          </p:nvPr>
        </p:nvSpPr>
        <p:spPr>
          <a:xfrm>
            <a:off x="311700" y="1393675"/>
            <a:ext cx="3332700" cy="31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Some districts experience higher overlap rates than others</a:t>
            </a:r>
            <a:endParaRPr/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Israel Township and Morgan Township show the highest rates</a:t>
            </a:r>
            <a:endParaRPr/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Likely influenced by distance from station and longer call durations</a:t>
            </a:r>
            <a:endParaRPr/>
          </a:p>
        </p:txBody>
      </p:sp>
      <p:pic>
        <p:nvPicPr>
          <p:cNvPr id="255" name="Google Shape;2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800" y="1248900"/>
            <a:ext cx="5194801" cy="3443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80"/>
              <a:t>How Often Do EMS and Fire Calls Overlap Each Other?</a:t>
            </a:r>
            <a:endParaRPr sz="21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80"/>
          </a:p>
        </p:txBody>
      </p:sp>
      <p:sp>
        <p:nvSpPr>
          <p:cNvPr id="261" name="Google Shape;261;p44"/>
          <p:cNvSpPr txBox="1"/>
          <p:nvPr>
            <p:ph idx="1" type="body"/>
          </p:nvPr>
        </p:nvSpPr>
        <p:spPr>
          <a:xfrm>
            <a:off x="311700" y="1008950"/>
            <a:ext cx="2731800" cy="40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Overlapping calls were categorized into three groups: </a:t>
            </a:r>
            <a:endParaRPr/>
          </a:p>
          <a:p>
            <a:pPr indent="-35782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EMS–EMS (medical with medical)</a:t>
            </a:r>
            <a:endParaRPr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Fire–Fire (fire with fire)</a:t>
            </a:r>
            <a:endParaRPr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EMS–Fire (medical with fire)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100" y="1128586"/>
            <a:ext cx="5423200" cy="33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5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Overlapping Analysis Cont</a:t>
            </a:r>
            <a:r>
              <a:rPr lang="en"/>
              <a:t>.</a:t>
            </a:r>
            <a:endParaRPr/>
          </a:p>
        </p:txBody>
      </p:sp>
      <p:sp>
        <p:nvSpPr>
          <p:cNvPr id="268" name="Google Shape;26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difference from call received to cleared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975" y="1780625"/>
            <a:ext cx="4392125" cy="32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Dashboard?</a:t>
            </a:r>
            <a:endParaRPr/>
          </a:p>
        </p:txBody>
      </p:sp>
      <p:sp>
        <p:nvSpPr>
          <p:cNvPr id="275" name="Google Shape;275;p46"/>
          <p:cNvSpPr txBox="1"/>
          <p:nvPr>
            <p:ph idx="1" type="body"/>
          </p:nvPr>
        </p:nvSpPr>
        <p:spPr>
          <a:xfrm>
            <a:off x="311700" y="1152475"/>
            <a:ext cx="8220900" cy="3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dashboard is a collection of visuals (charts, graphs, maps) all in one place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It shows important information in a way that is quick to understand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It uses the data sources that we were given to create an interactive visual tool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It allows users to interact with the data (filter, click, explore)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7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We Using a Dashboard?</a:t>
            </a:r>
            <a:endParaRPr/>
          </a:p>
        </p:txBody>
      </p:sp>
      <p:sp>
        <p:nvSpPr>
          <p:cNvPr id="281" name="Google Shape;281;p47"/>
          <p:cNvSpPr txBox="1"/>
          <p:nvPr>
            <p:ph idx="1" type="body"/>
          </p:nvPr>
        </p:nvSpPr>
        <p:spPr>
          <a:xfrm>
            <a:off x="311700" y="1152475"/>
            <a:ext cx="8520600" cy="35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/>
              <a:t>Emergency data is large and hard to interpret in raw form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/>
              <a:t>Visuals make patterns easier to see on the map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/>
              <a:t>Helps identify trends in calls, timing, and workload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/>
              <a:t>Provides us with infinite ways to filter and explore </a:t>
            </a:r>
            <a:r>
              <a:rPr lang="en" sz="1700"/>
              <a:t>different scenarios</a:t>
            </a:r>
            <a:endParaRPr sz="17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 Used For?</a:t>
            </a:r>
            <a:endParaRPr/>
          </a:p>
        </p:txBody>
      </p:sp>
      <p:sp>
        <p:nvSpPr>
          <p:cNvPr id="287" name="Google Shape;28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Track call volume over time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Analyze response times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Identify peak hours and busy shifts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Explore overlapping incidents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Compare activity across districts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Explore any combination of these specifications and how they interact with each other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Built It</a:t>
            </a:r>
            <a:endParaRPr/>
          </a:p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Cleaned and prepared data in R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Combined fire + EMS datasets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Created key variables (like response time &amp; overlap indicators)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Built visuals in Tableau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Interactive Filters</a:t>
            </a:r>
            <a:br>
              <a:rPr b="1" lang="en" sz="1700"/>
            </a:br>
            <a:r>
              <a:rPr lang="en" sz="1700"/>
              <a:t> 	Allows filtering by: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Incident type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Location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Season, changes over time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Overlap presence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0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the Dashboard</a:t>
            </a:r>
            <a:endParaRPr/>
          </a:p>
        </p:txBody>
      </p:sp>
      <p:sp>
        <p:nvSpPr>
          <p:cNvPr id="299" name="Google Shape;299;p50"/>
          <p:cNvSpPr txBox="1"/>
          <p:nvPr>
            <p:ph idx="1" type="body"/>
          </p:nvPr>
        </p:nvSpPr>
        <p:spPr>
          <a:xfrm>
            <a:off x="486725" y="1222975"/>
            <a:ext cx="663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Click the link below to access the dashboard:</a:t>
            </a: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100" u="sng">
                <a:solidFill>
                  <a:schemeClr val="hlink"/>
                </a:solidFill>
                <a:hlinkClick r:id="rId3"/>
              </a:rPr>
              <a:t>Oxford Fire Department Tableau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1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Takeaways</a:t>
            </a:r>
            <a:endParaRPr/>
          </a:p>
        </p:txBody>
      </p:sp>
      <p:sp>
        <p:nvSpPr>
          <p:cNvPr id="305" name="Google Shape;305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When are the busiest times for calls?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While fire times stay consistent across the week, EMS calls peak on Thursday, Friday, Saturday and Sunday.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All call times see a significant drop in calls from 2 AM - 7 AM.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Are certain districts more active than others?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Further away districts take more time to complete, leading to a high volume of </a:t>
            </a:r>
            <a:r>
              <a:rPr lang="en"/>
              <a:t>overlapping calls.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Oxford area sees extremely high volumes of calls, so it is natural to see many overlapping calls.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Takeaways</a:t>
            </a:r>
            <a:endParaRPr/>
          </a:p>
        </p:txBody>
      </p:sp>
      <p:sp>
        <p:nvSpPr>
          <p:cNvPr id="311" name="Google Shape;31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When do overlapping incidents happen most often?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Overlapping calls happen most often during </a:t>
            </a:r>
            <a:r>
              <a:rPr b="1" lang="en" sz="1600"/>
              <a:t>midday into early evening (around 3 PM – 7 PM)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Overlaps are more frequent on </a:t>
            </a:r>
            <a:r>
              <a:rPr b="1" lang="en" sz="1600"/>
              <a:t>weekends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Especially higher on </a:t>
            </a:r>
            <a:r>
              <a:rPr b="1" lang="en" sz="1600"/>
              <a:t>Friday evenings and Saturdays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Which shifts handle the highest workload?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Over all 2 years of data, shift 3 has the most calls and the most </a:t>
            </a:r>
            <a:r>
              <a:rPr lang="en" sz="1600"/>
              <a:t>overlapping</a:t>
            </a:r>
            <a:r>
              <a:rPr lang="en" sz="1600"/>
              <a:t> calls.</a:t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Prospects</a:t>
            </a:r>
            <a:endParaRPr/>
          </a:p>
        </p:txBody>
      </p:sp>
      <p:sp>
        <p:nvSpPr>
          <p:cNvPr id="317" name="Google Shape;31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Opportunities</a:t>
            </a:r>
            <a:endParaRPr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Develop an automated ETL data pipeline (Extract, Transform, Load)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Automatically pull new call data from the records management system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Refresh the dashboard weekly, monthly, or near real time depending on operational needs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Enable leadership to continuously monitor trends in call demand, staffing strain, and response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Potential Extensions</a:t>
            </a:r>
            <a:endParaRPr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AI assisted querying or chatbot interface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Additional years of data to track long term operational changes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/>
          <p:nvPr>
            <p:ph type="ctrTitle"/>
          </p:nvPr>
        </p:nvSpPr>
        <p:spPr>
          <a:xfrm>
            <a:off x="525350" y="931937"/>
            <a:ext cx="7956900" cy="18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5"/>
          <p:cNvSpPr txBox="1"/>
          <p:nvPr>
            <p:ph type="ctrTitle"/>
          </p:nvPr>
        </p:nvSpPr>
        <p:spPr>
          <a:xfrm>
            <a:off x="525350" y="931937"/>
            <a:ext cx="7956900" cy="18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ami University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EEEEEE"/>
      </a:lt2>
      <a:accent1>
        <a:srgbClr val="C41230"/>
      </a:accent1>
      <a:accent2>
        <a:srgbClr val="AD102A"/>
      </a:accent2>
      <a:accent3>
        <a:srgbClr val="CCC9B8"/>
      </a:accent3>
      <a:accent4>
        <a:srgbClr val="EDECE2"/>
      </a:accent4>
      <a:accent5>
        <a:srgbClr val="EFDB72"/>
      </a:accent5>
      <a:accent6>
        <a:srgbClr val="000000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